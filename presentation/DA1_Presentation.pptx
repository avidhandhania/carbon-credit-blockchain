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Blockchain-Based Carbon Credit Trading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FE3DF"/>
                </a:solidFill>
                <a:latin typeface="Calibri"/>
              </a:rPr>
              <a:t>Digital Assignment 1 (DA1)  •  Blockchain Technology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976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2A9D8F"/>
                </a:solidFill>
                <a:latin typeface="Calibri"/>
              </a:rPr>
              <a:t>SDG 13 — Climate Action   |   Supporting SDG 7 &amp; SDG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Problem Statement, Objectives &amp; Scope (SDG 13)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Literature Survey &amp; Research Gap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Blockchain Suitability — Why Ethereum?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System Architecture, Workflow &amp; Design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Project Planning — Timeline, Milestones, Feasibility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1. 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2A9D8F"/>
                </a:solidFill>
                <a:latin typeface="Calibri"/>
              </a:rPr>
              <a:t>The carbon market meant to fight climate change is undermined by four structural failures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Carbon credit = right to emit 1 tonne CO2; surplus credits are traded to reward decarbonisation.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Double-counting — same credit sold to multiple buyers across siloed registries.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Opacity — no one can independently verify a credit or its underlying green project.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Fraud &amp; 'phantom credits' — credits for projects that never existed / overstated impact.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Slow, costly manual verification via intermediaries.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1. Objectives &amp;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2A9D8F"/>
                </a:solidFill>
                <a:latin typeface="Calibri"/>
              </a:rPr>
              <a:t>SDG 13 Climate Action (primary), supporting SDG 7 &amp; SDG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O1: Tokenise credits as unique, non-duplicable assets.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O2: Automate mint / transfer / retire via smart contracts — no double-counting by design.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O3: Transparent, immutable, publicly auditable lifecycle ledger.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O4: Cut intermediaries → faster, cheaper verification.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O5: Role-based authorisation (developer / verifier / buyer / regulator).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Scope (DA1): design DApp, ERC-20 credits, marketplace + retirement contracts, IPFS, dashboard — not implementation.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2. Literature Survey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Toucan Protocol — bridges credits on-chain; trusts the off-chain bridge.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KlimaDAO — tokenised credits as treasury asset; speculative focus.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IBM / Energy Web — permissioned tracking; not publicly auditable.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Verra / Gold Standard — solid methodology but centralised &amp; siloed.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Academic surveys (2019-23) — mostly conceptual; rarely model full lifecycle.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2. Research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2A9D8F"/>
                </a:solidFill>
                <a:latin typeface="Calibri"/>
              </a:rPr>
              <a:t>What the literature leaves unsolved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G1 — Fragmented lifecycle: few enforce 'cannot sell after retirement'.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G2 — Weak trust anchoring: bridged credits inherit legacy flaws; evidence not bound to token.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G3 — Missing role-based governance on a public chain.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This project: one public-Ethereum system enforcing the full lifecycle, anchoring verifier attestations + IPFS hashes, with role-based access control.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3. Why Blockchain? Why Ethereum?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2A9D8F"/>
                </a:solidFill>
                <a:latin typeface="Calibri"/>
              </a:rPr>
              <a:t>Public Ethereum chosen over permissioned Hyperledger Fabric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Blockchain fits when: multiple non-trusting parties, no single authority, immutable audit trail, disintermediation adds value — carbon trading meets all four.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Public verifiability by regulators &amp; the public → rules out permissioned Hyperledger.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ERC-20 / ERC-721 map directly onto 'one credit = one non-duplicable token'.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Largest ecosystem: Solidity, OpenZeppelin, MetaMask, testnets → faster, safer build.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Layer-2 (Polygon/Arbitrum) neutralises gas-cost objection.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4. System Architecture</a:t>
            </a:r>
          </a:p>
        </p:txBody>
      </p:sp>
      <p:pic>
        <p:nvPicPr>
          <p:cNvPr id="4" name="Picture 3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8237" y="1097280"/>
            <a:ext cx="7475219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4. Carbon Credit Lifecycle Workflow</a:t>
            </a:r>
          </a:p>
        </p:txBody>
      </p:sp>
      <p:pic>
        <p:nvPicPr>
          <p:cNvPr id="4" name="Picture 3" descr="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1097280"/>
            <a:ext cx="10515600" cy="487994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4. Sequence — Buy &amp; Retire</a:t>
            </a:r>
          </a:p>
        </p:txBody>
      </p:sp>
      <p:pic>
        <p:nvPicPr>
          <p:cNvPr id="4" name="Picture 3" descr="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2387" y="1097280"/>
            <a:ext cx="8586919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5. Project Plan — Gantt Chart</a:t>
            </a:r>
          </a:p>
        </p:txBody>
      </p:sp>
      <p:pic>
        <p:nvPicPr>
          <p:cNvPr id="4" name="Picture 3" descr="gan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9641" y="1097280"/>
            <a:ext cx="9492411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5. Feasibility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Technical — HIGH: mature open-source stack (Solidity, OpenZeppelin, Hardhat, React, MetaMask, IPFS).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Economic — HIGH: free testnets &amp; tooling; production gas cut via Layer-2.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Operational — MEDIUM: needs verifier &amp; regulator buy-in; complements existing registries.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Schedule — HIGH: 11-week plan fits one semester.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Key risk: 'garbage-in' off-chain data → mitigated by multiple attestations + IPFS evidence.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6576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2A9D8F"/>
                </a:solidFill>
                <a:latin typeface="Calibri"/>
              </a:rPr>
              <a:t>Restoring trust in carbon markets, one immutable credit at a time.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